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07" d="100"/>
          <a:sy n="107" d="100"/>
        </p:scale>
        <p:origin x="2216" y="4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Sistema di Assistente Vocale Self-Hosted</a:t>
            </a:r>
          </a:p>
        </p:txBody>
      </p:sp>
      <p:sp>
        <p:nvSpPr>
          <p:cNvPr id="3" name="Subtitle 2"/>
          <p:cNvSpPr>
            <a:spLocks noGrp="1"/>
          </p:cNvSpPr>
          <p:nvPr>
            <p:ph type="subTitle" idx="1"/>
          </p:nvPr>
        </p:nvSpPr>
        <p:spPr/>
        <p:txBody>
          <a:bodyPr/>
          <a:lstStyle/>
          <a:p>
            <a:r>
              <a:t>Sistema di Assistente Vocale Self-Hosted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Sistema di Assistente Vocale Self-Hosted con WebRTC</a:t>
            </a:r>
          </a:p>
        </p:txBody>
      </p:sp>
      <p:sp>
        <p:nvSpPr>
          <p:cNvPr id="3" name="Content Placeholder 2"/>
          <p:cNvSpPr>
            <a:spLocks noGrp="1"/>
          </p:cNvSpPr>
          <p:nvPr>
            <p:ph idx="1"/>
          </p:nvPr>
        </p:nvSpPr>
        <p:spPr/>
        <p:txBody>
          <a:bodyPr wrap="square"/>
          <a:lstStyle/>
          <a:p>
            <a:endParaRPr/>
          </a:p>
          <a:p>
            <a:pPr>
              <a:spcAft>
                <a:spcPts val="600"/>
              </a:spcAft>
              <a:defRPr sz="1400"/>
            </a:pPr>
            <a:r>
              <a:t>Incontro Tecnico  </a:t>
            </a:r>
            <a:br/>
            <a:r>
              <a:t>Architettura, Componenti e Funzionamento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2: Agenda</a:t>
            </a:r>
          </a:p>
        </p:txBody>
      </p:sp>
      <p:sp>
        <p:nvSpPr>
          <p:cNvPr id="3" name="Content Placeholder 2"/>
          <p:cNvSpPr>
            <a:spLocks noGrp="1"/>
          </p:cNvSpPr>
          <p:nvPr>
            <p:ph idx="1"/>
          </p:nvPr>
        </p:nvSpPr>
        <p:spPr/>
        <p:txBody>
          <a:bodyPr wrap="square"/>
          <a:lstStyle/>
          <a:p>
            <a:endParaRPr/>
          </a:p>
          <a:p>
            <a:pPr>
              <a:spcAft>
                <a:spcPts val="600"/>
              </a:spcAft>
              <a:defRPr sz="1400"/>
            </a:pPr>
            <a:r>
              <a:t>Contenuti della Presentazione</a:t>
            </a:r>
            <a:br/>
            <a:r>
              <a:t>Panoramica del Sistema</a:t>
            </a:r>
            <a:br/>
            <a:r>
              <a:t>Architettura e Componenti</a:t>
            </a:r>
            <a:br/>
            <a:r>
              <a:t>Stack Tecnologico</a:t>
            </a:r>
            <a:br/>
            <a:r>
              <a:t>Moduli Principali</a:t>
            </a:r>
            <a:br/>
            <a:r>
              <a:t>Flussi di Dati</a:t>
            </a:r>
            <a:br/>
            <a:r>
              <a:t>Deployment e Infrastruttura</a:t>
            </a:r>
            <a:br/>
            <a:r>
              <a:t>Demo e Caratteristiche Avanzate</a:t>
            </a:r>
            <a:br/>
            <a:r>
              <a:t>Q&amp;A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3: Cos'è SophyAI Live Server?</a:t>
            </a:r>
          </a:p>
        </p:txBody>
      </p:sp>
      <p:sp>
        <p:nvSpPr>
          <p:cNvPr id="3" name="Content Placeholder 2"/>
          <p:cNvSpPr>
            <a:spLocks noGrp="1"/>
          </p:cNvSpPr>
          <p:nvPr>
            <p:ph idx="1"/>
          </p:nvPr>
        </p:nvSpPr>
        <p:spPr/>
        <p:txBody>
          <a:bodyPr wrap="square"/>
          <a:lstStyle/>
          <a:p>
            <a:endParaRPr/>
          </a:p>
          <a:p>
            <a:pPr>
              <a:spcAft>
                <a:spcPts val="400"/>
              </a:spcAft>
              <a:defRPr sz="1200"/>
            </a:pPr>
            <a:r>
              <a:t>Sistema Completo di Assistente Vocale</a:t>
            </a:r>
            <a:br/>
            <a:r>
              <a:t>• ✅ Completamente Self-Hosted (tranne servizi opzionali cloud)</a:t>
            </a:r>
            <a:br/>
            <a:r>
              <a:t>• ✅ WebRTC Real-Time per comunicazioni vocali bidirezionali</a:t>
            </a:r>
            <a:br/>
            <a:r>
              <a:t>• ✅ Multi-Engine per STT, LLM e TTS</a:t>
            </a:r>
            <a:br/>
            <a:r>
              <a:t>• ✅</a:t>
            </a:r>
          </a:p>
          <a:p>
            <a:pPr>
              <a:spcAft>
                <a:spcPts val="400"/>
              </a:spcAft>
              <a:defRPr sz="1200"/>
            </a:pPr>
            <a:r>
              <a:t>Use Cases</a:t>
            </a:r>
            <a:br/>
            <a:r>
              <a:t>• Assistente vocale personale</a:t>
            </a:r>
            <a:br/>
            <a:r>
              <a:t>• Call center automatizzato</a:t>
            </a:r>
            <a:br/>
            <a:r>
              <a:t>• Supporto clienti vocale</a:t>
            </a:r>
            <a:br/>
            <a:r>
              <a:t>• Interfaccia vocale per applicazioni</a:t>
            </a:r>
          </a:p>
        </p:txBody>
      </p:sp>
      <p:pic>
        <p:nvPicPr>
          <p:cNvPr id="4" name="Picture 3" descr="01_architettura.png"/>
          <p:cNvPicPr>
            <a:picLocks noChangeAspect="1"/>
          </p:cNvPicPr>
          <p:nvPr/>
        </p:nvPicPr>
        <p:blipFill>
          <a:blip r:embed="rId2"/>
          <a:stretch>
            <a:fillRect/>
          </a:stretch>
        </p:blipFill>
        <p:spPr>
          <a:xfrm>
            <a:off x="457200" y="2286000"/>
            <a:ext cx="8229600" cy="4114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4: Architettura ad Alto Livello</a:t>
            </a:r>
          </a:p>
        </p:txBody>
      </p:sp>
      <p:sp>
        <p:nvSpPr>
          <p:cNvPr id="3" name="Content Placeholder 2"/>
          <p:cNvSpPr>
            <a:spLocks noGrp="1"/>
          </p:cNvSpPr>
          <p:nvPr>
            <p:ph idx="1"/>
          </p:nvPr>
        </p:nvSpPr>
        <p:spPr/>
        <p:txBody>
          <a:bodyPr wrap="square"/>
          <a:lstStyle/>
          <a:p>
            <a:endParaRPr/>
          </a:p>
          <a:p>
            <a:pPr>
              <a:spcAft>
                <a:spcPts val="600"/>
              </a:spcAft>
              <a:defRPr sz="1400"/>
            </a:pPr>
            <a:r>
              <a:t>Il sistema SophyAI Live Server è basato su un'architettura modulare che separa chiaramente le responsabilità tra client, infrastruttura, applicazione e servizi AI. Il browser client comunica con LiveKit tramite WebRTC per lo streaming audio in tempo reale. LiveKit gestisce la comunicazione bidirezionale e dispatcha automaticamente il Voice Agent quando necessario. L'agent orchestra i tre componenti AI principali: Whisper per la trascrizione vocale, il provider LLM (Ollama locale o OpenRouter cloud) per la generazione di risposte, e i motori TTS per la sintesi vocale. Tutti i dati vengono persistiti in PostgreSQL per garantire continuità tra sessioni.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5: Componenti Principali</a:t>
            </a:r>
          </a:p>
        </p:txBody>
      </p:sp>
      <p:sp>
        <p:nvSpPr>
          <p:cNvPr id="3" name="Content Placeholder 2"/>
          <p:cNvSpPr>
            <a:spLocks noGrp="1"/>
          </p:cNvSpPr>
          <p:nvPr>
            <p:ph idx="1"/>
          </p:nvPr>
        </p:nvSpPr>
        <p:spPr/>
        <p:txBody>
          <a:bodyPr wrap="square"/>
          <a:lstStyle/>
          <a:p>
            <a:endParaRPr/>
          </a:p>
          <a:p>
            <a:pPr>
              <a:spcAft>
                <a:spcPts val="400"/>
              </a:spcAft>
              <a:defRPr sz="1200"/>
            </a:pPr>
            <a:r>
              <a:t>5 Componenti Chiave</a:t>
            </a:r>
            <a:br/>
            <a:r>
              <a:t>Web Server (FastAPI)</a:t>
            </a:r>
            <a:br/>
            <a:r>
              <a:t>• Frontend HTML/JS</a:t>
            </a:r>
            <a:br/>
            <a:r>
              <a:t>• API REST per configurazione</a:t>
            </a:r>
            <a:br/>
            <a:r>
              <a:t>• Token generation LiveKit</a:t>
            </a:r>
            <a:br/>
            <a:r>
              <a:t>• Database management</a:t>
            </a:r>
            <a:br/>
            <a:r>
              <a:t>Voice Agent (LiveKit Worker)</a:t>
            </a:r>
            <a:br/>
            <a:r>
              <a:t>• Orchestrazione STT → LLM → TTS</a:t>
            </a:r>
          </a:p>
        </p:txBody>
      </p:sp>
      <p:pic>
        <p:nvPicPr>
          <p:cNvPr id="4" name="Picture 3" descr="03_stack_tecnologico.png"/>
          <p:cNvPicPr>
            <a:picLocks noChangeAspect="1"/>
          </p:cNvPicPr>
          <p:nvPr/>
        </p:nvPicPr>
        <p:blipFill>
          <a:blip r:embed="rId2"/>
          <a:stretch>
            <a:fillRect/>
          </a:stretch>
        </p:blipFill>
        <p:spPr>
          <a:xfrm>
            <a:off x="457200" y="2286000"/>
            <a:ext cx="8229600" cy="4114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6: Stack Tecnologico</a:t>
            </a:r>
          </a:p>
        </p:txBody>
      </p:sp>
      <p:sp>
        <p:nvSpPr>
          <p:cNvPr id="3" name="Content Placeholder 2"/>
          <p:cNvSpPr>
            <a:spLocks noGrp="1"/>
          </p:cNvSpPr>
          <p:nvPr>
            <p:ph idx="1"/>
          </p:nvPr>
        </p:nvSpPr>
        <p:spPr/>
        <p:txBody>
          <a:bodyPr wrap="square"/>
          <a:lstStyle/>
          <a:p>
            <a:endParaRPr/>
          </a:p>
          <a:p>
            <a:pPr>
              <a:spcAft>
                <a:spcPts val="600"/>
              </a:spcAft>
              <a:defRPr sz="1400"/>
            </a:pPr>
            <a:r>
              <a:t>Lo stack tecnologico è stato scelto per bilanciare performance, facilità di sviluppo e scalabilità. Sul backend utilizziamo FastAPI per le API REST asincrone, LiveKit per la gestione WebRTC real-time, PostgreSQL per la persistenza robusta e Redis per la cache delle sessioni. Tutto è containerizzato con Docker per facilità di deployment. Per l'AI, abbiamo scelto faster-whisper per STT (ottimizzato rispetto a Whisper standard), Ollama per LLM locale con privacy totale, OpenRouter per accesso a modelli cloud avanzati, e sei diversi motori TTS per coprire tutti i casi d'uso. Il supporto vision opzionale permette analisi di immagini e video.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7: Speech-to-Text (STT)</a:t>
            </a:r>
          </a:p>
        </p:txBody>
      </p:sp>
      <p:sp>
        <p:nvSpPr>
          <p:cNvPr id="3" name="Content Placeholder 2"/>
          <p:cNvSpPr>
            <a:spLocks noGrp="1"/>
          </p:cNvSpPr>
          <p:nvPr>
            <p:ph idx="1"/>
          </p:nvPr>
        </p:nvSpPr>
        <p:spPr/>
        <p:txBody>
          <a:bodyPr wrap="square"/>
          <a:lstStyle/>
          <a:p>
            <a:endParaRPr/>
          </a:p>
          <a:p>
            <a:pPr>
              <a:spcAft>
                <a:spcPts val="600"/>
              </a:spcAft>
              <a:defRPr sz="1400"/>
            </a:pPr>
            <a:r>
              <a:t>Whisper STT Implementation</a:t>
            </a:r>
          </a:p>
          <a:p>
            <a:pPr>
              <a:spcAft>
                <a:spcPts val="600"/>
              </a:spcAft>
              <a:defRPr sz="1400"/>
            </a:pPr>
            <a:r>
              <a:t>Caratteristiche:</a:t>
            </a:r>
            <a:br/>
            <a:r>
              <a:t>• ✅ Modelli: tiny, base, small, medium, large</a:t>
            </a:r>
            <a:br/>
            <a:r>
              <a:t>• ✅ VAD (Voice Activity Detection) integrato</a:t>
            </a:r>
            <a:br/>
            <a:r>
              <a:t>• ✅ Language detection automatica</a:t>
            </a:r>
            <a:br/>
            <a:r>
              <a:t>• ✅ Streaming transcription</a:t>
            </a:r>
            <a:br/>
            <a:r>
              <a:t>• ✅ Supporto GPU (CUDA) e CPU</a:t>
            </a:r>
          </a:p>
          <a:p>
            <a:pPr>
              <a:spcAft>
                <a:spcPts val="600"/>
              </a:spcAft>
              <a:defRPr sz="1400"/>
            </a:pPr>
            <a:r>
              <a:t>Performance:</a:t>
            </a:r>
            <a:br/>
            <a:r>
              <a:t>• tiny: ~1GB RAM, molto veloce</a:t>
            </a:r>
            <a:br/>
            <a:r>
              <a:t>• small: ~2GB RAM, qualità buona (consigliato)</a:t>
            </a:r>
            <a:br/>
            <a:r>
              <a:t>• medium: ~5GB RAM, alta qualità</a:t>
            </a:r>
            <a:br/>
            <a:r>
              <a:t>• large: ~10GB RAM, qualità eccellente</a:t>
            </a:r>
          </a:p>
          <a:p>
            <a:pPr>
              <a:spcAft>
                <a:spcPts val="600"/>
              </a:spcAft>
              <a:defRPr sz="1400"/>
            </a:pPr>
            <a:r>
              <a:t>Configurazione:</a:t>
            </a:r>
            <a:br/>
            <a:r>
              <a:t>[CODE BLOCK]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8: Large Language Model (LLM)</a:t>
            </a:r>
          </a:p>
        </p:txBody>
      </p:sp>
      <p:sp>
        <p:nvSpPr>
          <p:cNvPr id="3" name="Content Placeholder 2"/>
          <p:cNvSpPr>
            <a:spLocks noGrp="1"/>
          </p:cNvSpPr>
          <p:nvPr>
            <p:ph idx="1"/>
          </p:nvPr>
        </p:nvSpPr>
        <p:spPr/>
        <p:txBody>
          <a:bodyPr wrap="square"/>
          <a:lstStyle/>
          <a:p>
            <a:endParaRPr/>
          </a:p>
          <a:p>
            <a:pPr>
              <a:spcAft>
                <a:spcPts val="400"/>
              </a:spcAft>
              <a:defRPr sz="1200"/>
            </a:pPr>
            <a:r>
              <a:t>Due Provider Disponibili</a:t>
            </a:r>
          </a:p>
          <a:p>
            <a:pPr>
              <a:spcAft>
                <a:spcPts val="400"/>
              </a:spcAft>
              <a:defRPr sz="1200"/>
            </a:pPr>
            <a:r>
              <a:t>#### 1. Ollama (Locale)</a:t>
            </a:r>
            <a:br/>
            <a:r>
              <a:t>• ✅ Privacy totale - tutto locale</a:t>
            </a:r>
            <a:br/>
            <a:r>
              <a:t>• ✅ Modelli: gpt-oss, llama2, mistral, ecc.</a:t>
            </a:r>
            <a:br/>
            <a:r>
              <a:t>• ✅ Streaming responses</a:t>
            </a:r>
            <a:br/>
            <a:r>
              <a:t>• ✅ Zero costi API</a:t>
            </a:r>
          </a:p>
        </p:txBody>
      </p:sp>
      <p:pic>
        <p:nvPicPr>
          <p:cNvPr id="4" name="Picture 3" descr="05_confronto_tts.png"/>
          <p:cNvPicPr>
            <a:picLocks noChangeAspect="1"/>
          </p:cNvPicPr>
          <p:nvPr/>
        </p:nvPicPr>
        <p:blipFill>
          <a:blip r:embed="rId2"/>
          <a:stretch>
            <a:fillRect/>
          </a:stretch>
        </p:blipFill>
        <p:spPr>
          <a:xfrm>
            <a:off x="457200" y="2286000"/>
            <a:ext cx="8229600" cy="411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9: Text-to-Speech (TTS)</a:t>
            </a:r>
          </a:p>
        </p:txBody>
      </p:sp>
      <p:sp>
        <p:nvSpPr>
          <p:cNvPr id="3" name="Content Placeholder 2"/>
          <p:cNvSpPr>
            <a:spLocks noGrp="1"/>
          </p:cNvSpPr>
          <p:nvPr>
            <p:ph idx="1"/>
          </p:nvPr>
        </p:nvSpPr>
        <p:spPr/>
        <p:txBody>
          <a:bodyPr wrap="square"/>
          <a:lstStyle/>
          <a:p>
            <a:endParaRPr/>
          </a:p>
          <a:p>
            <a:pPr>
              <a:spcAft>
                <a:spcPts val="400"/>
              </a:spcAft>
              <a:defRPr sz="1200"/>
            </a:pPr>
            <a:r>
              <a:t>Il sistema supporta sei diversi motori TTS, ognuno con caratteristiche uniche. Edge TTS di Microsoft offre qualità eccellente via cloud senza bisogno di risorse locali. Piper è ideale per deployment l</a:t>
            </a:r>
          </a:p>
        </p:txBody>
      </p:sp>
      <p:pic>
        <p:nvPicPr>
          <p:cNvPr id="4" name="Picture 3" descr="02_flusso_e2e.png"/>
          <p:cNvPicPr>
            <a:picLocks noChangeAspect="1"/>
          </p:cNvPicPr>
          <p:nvPr/>
        </p:nvPicPr>
        <p:blipFill>
          <a:blip r:embed="rId2"/>
          <a:stretch>
            <a:fillRect/>
          </a:stretch>
        </p:blipFill>
        <p:spPr>
          <a:xfrm>
            <a:off x="457200" y="2286000"/>
            <a:ext cx="8229600" cy="4114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10: Flusso Completo End-to-End</a:t>
            </a:r>
          </a:p>
        </p:txBody>
      </p:sp>
      <p:sp>
        <p:nvSpPr>
          <p:cNvPr id="3" name="Content Placeholder 2"/>
          <p:cNvSpPr>
            <a:spLocks noGrp="1"/>
          </p:cNvSpPr>
          <p:nvPr>
            <p:ph idx="1"/>
          </p:nvPr>
        </p:nvSpPr>
        <p:spPr/>
        <p:txBody>
          <a:bodyPr wrap="square"/>
          <a:lstStyle/>
          <a:p>
            <a:endParaRPr/>
          </a:p>
          <a:p>
            <a:pPr>
              <a:spcAft>
                <a:spcPts val="400"/>
              </a:spcAft>
              <a:defRPr sz="1200"/>
            </a:pPr>
            <a:r>
              <a:t>Il flusso completo di una conversazione inizia quando l'utente parla nel microfono. L'audio viene catturato dal browser e inviato a LiveKit tramite WebRTC in tempo reale. LiveKit inoltra i frame audio</a:t>
            </a:r>
          </a:p>
        </p:txBody>
      </p:sp>
      <p:pic>
        <p:nvPicPr>
          <p:cNvPr id="4" name="Picture 3" descr="08_sequenza_multiuser.png"/>
          <p:cNvPicPr>
            <a:picLocks noChangeAspect="1"/>
          </p:cNvPicPr>
          <p:nvPr/>
        </p:nvPicPr>
        <p:blipFill>
          <a:blip r:embed="rId2"/>
          <a:stretch>
            <a:fillRect/>
          </a:stretch>
        </p:blipFill>
        <p:spPr>
          <a:xfrm>
            <a:off x="457200" y="2286000"/>
            <a:ext cx="8229600" cy="4114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11: Multi-User Support</a:t>
            </a:r>
          </a:p>
        </p:txBody>
      </p:sp>
      <p:sp>
        <p:nvSpPr>
          <p:cNvPr id="3" name="Content Placeholder 2"/>
          <p:cNvSpPr>
            <a:spLocks noGrp="1"/>
          </p:cNvSpPr>
          <p:nvPr>
            <p:ph idx="1"/>
          </p:nvPr>
        </p:nvSpPr>
        <p:spPr/>
        <p:txBody>
          <a:bodyPr wrap="square"/>
          <a:lstStyle/>
          <a:p>
            <a:endParaRPr/>
          </a:p>
          <a:p>
            <a:pPr>
              <a:spcAft>
                <a:spcPts val="600"/>
              </a:spcAft>
              <a:defRPr sz="1400"/>
            </a:pPr>
            <a:r>
              <a:t>Il sistema gestisce intelligentemente le conversazioni multi-utente. Quando c'è un solo utente nella room, l'agent risponde automaticamente a ogni input vocale senza bisogno di trigger, creando un'esperienza fluida e naturale. Quando invece ci sono due o più utenti, l'agent entra in modalità "mention-based", rispondendo solo quando viene esplicitamente menzionato con trigger come @sophyai, @sophy o "sophy ai". Questo evita che l'agent interrompa conversazioni tra utenti umani. È disponibile anche una modalità "force response" che può essere attivata dal frontend per forzare l'agent a rispondere sempre, utile in scenari specifici come call center o assistenza clienti.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12: Video Analysis (Opzionale)</a:t>
            </a:r>
          </a:p>
        </p:txBody>
      </p:sp>
      <p:sp>
        <p:nvSpPr>
          <p:cNvPr id="3" name="Content Placeholder 2"/>
          <p:cNvSpPr>
            <a:spLocks noGrp="1"/>
          </p:cNvSpPr>
          <p:nvPr>
            <p:ph idx="1"/>
          </p:nvPr>
        </p:nvSpPr>
        <p:spPr/>
        <p:txBody>
          <a:bodyPr wrap="square"/>
          <a:lstStyle/>
          <a:p>
            <a:endParaRPr/>
          </a:p>
          <a:p>
            <a:pPr>
              <a:spcAft>
                <a:spcPts val="400"/>
              </a:spcAft>
              <a:defRPr sz="1200"/>
            </a:pPr>
            <a:r>
              <a:t>Analisi Immagini e Video</a:t>
            </a:r>
          </a:p>
          <a:p>
            <a:pPr>
              <a:spcAft>
                <a:spcPts val="400"/>
              </a:spcAft>
              <a:defRPr sz="1200"/>
            </a:pPr>
            <a:r>
              <a:t>Capacità:</a:t>
            </a:r>
            <a:br/>
            <a:r>
              <a:t>• ✅ Estrazione frame da webcam/screen sharing</a:t>
            </a:r>
            <a:br/>
            <a:r>
              <a:t>• ✅ Analisi con modelli vision (GPT-4 Vision, LLaVA)</a:t>
            </a:r>
            <a:br/>
            <a:r>
              <a:t>• ✅ Function calling per analisi specifiche</a:t>
            </a:r>
          </a:p>
        </p:txBody>
      </p:sp>
      <p:pic>
        <p:nvPicPr>
          <p:cNvPr id="4" name="Picture 3" descr="07_database_schema.png"/>
          <p:cNvPicPr>
            <a:picLocks noChangeAspect="1"/>
          </p:cNvPicPr>
          <p:nvPr/>
        </p:nvPicPr>
        <p:blipFill>
          <a:blip r:embed="rId2"/>
          <a:stretch>
            <a:fillRect/>
          </a:stretch>
        </p:blipFill>
        <p:spPr>
          <a:xfrm>
            <a:off x="457200" y="2286000"/>
            <a:ext cx="8229600" cy="4114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13: Database Schema</a:t>
            </a:r>
          </a:p>
        </p:txBody>
      </p:sp>
      <p:sp>
        <p:nvSpPr>
          <p:cNvPr id="3" name="Content Placeholder 2"/>
          <p:cNvSpPr>
            <a:spLocks noGrp="1"/>
          </p:cNvSpPr>
          <p:nvPr>
            <p:ph idx="1"/>
          </p:nvPr>
        </p:nvSpPr>
        <p:spPr/>
        <p:txBody>
          <a:bodyPr wrap="square"/>
          <a:lstStyle/>
          <a:p>
            <a:endParaRPr/>
          </a:p>
          <a:p>
            <a:pPr>
              <a:spcAft>
                <a:spcPts val="400"/>
              </a:spcAft>
              <a:defRPr sz="1200"/>
            </a:pPr>
            <a:r>
              <a:t>Il database PostgreSQL utilizza uno schema semplice ma efficace composto da tre tabelle principali. La tabella settings funziona come un key-value store per tutte le configurazioni del sistema, permet</a:t>
            </a:r>
          </a:p>
        </p:txBody>
      </p:sp>
      <p:pic>
        <p:nvPicPr>
          <p:cNvPr id="4" name="Picture 3" descr="04_deployment_docker.png"/>
          <p:cNvPicPr>
            <a:picLocks noChangeAspect="1"/>
          </p:cNvPicPr>
          <p:nvPr/>
        </p:nvPicPr>
        <p:blipFill>
          <a:blip r:embed="rId2"/>
          <a:stretch>
            <a:fillRect/>
          </a:stretch>
        </p:blipFill>
        <p:spPr>
          <a:xfrm>
            <a:off x="457200" y="2286000"/>
            <a:ext cx="8229600" cy="4114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14: Deployment - Docker Compose</a:t>
            </a:r>
          </a:p>
        </p:txBody>
      </p:sp>
      <p:sp>
        <p:nvSpPr>
          <p:cNvPr id="3" name="Content Placeholder 2"/>
          <p:cNvSpPr>
            <a:spLocks noGrp="1"/>
          </p:cNvSpPr>
          <p:nvPr>
            <p:ph idx="1"/>
          </p:nvPr>
        </p:nvSpPr>
        <p:spPr/>
        <p:txBody>
          <a:bodyPr wrap="square"/>
          <a:lstStyle/>
          <a:p>
            <a:endParaRPr/>
          </a:p>
          <a:p>
            <a:pPr>
              <a:spcAft>
                <a:spcPts val="600"/>
              </a:spcAft>
              <a:defRPr sz="1400"/>
            </a:pPr>
            <a:r>
              <a:t>Il deployment utilizza Docker Compose per orchestrare tutti i servizi in modo isolato ma comunicante. All'interno della Docker network "voiceagent" troviamo PostgreSQL per la persistenza dati, Redis per la cache di LiveKit, il Web Server FastAPI che espone le API REST e il frontend, e il Voice Agent Worker che gestisce le conversazioni. Il SIP Bridge opzionale permette integrazione con telefonia tradizionale. Sul host machine girano invece Ollama per LLM locale, il TTS Server dedicato per accesso a GPU/MPS, e LiveKit Server per la gestione WebRTC. Questa separazione permette di sfruttare le risorse del host (GPU, MPS) mentre mantiene i servizi core containerizzati per facilità di deployment e scalabilità.</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15: API REST - Endpoints Principali</a:t>
            </a:r>
          </a:p>
        </p:txBody>
      </p:sp>
      <p:sp>
        <p:nvSpPr>
          <p:cNvPr id="3" name="Content Placeholder 2"/>
          <p:cNvSpPr>
            <a:spLocks noGrp="1"/>
          </p:cNvSpPr>
          <p:nvPr>
            <p:ph idx="1"/>
          </p:nvPr>
        </p:nvSpPr>
        <p:spPr>
          <a:xfrm>
            <a:off x="457200" y="1417638"/>
            <a:ext cx="8229600" cy="4525963"/>
          </a:xfrm>
        </p:spPr>
        <p:txBody>
          <a:bodyPr wrap="square">
            <a:normAutofit fontScale="85000" lnSpcReduction="20000"/>
          </a:bodyPr>
          <a:lstStyle/>
          <a:p>
            <a:endParaRPr dirty="0"/>
          </a:p>
          <a:p>
            <a:pPr>
              <a:spcAft>
                <a:spcPts val="600"/>
              </a:spcAft>
              <a:defRPr sz="1400"/>
            </a:pPr>
            <a:r>
              <a:rPr dirty="0" err="1"/>
              <a:t>Categorie</a:t>
            </a:r>
            <a:r>
              <a:rPr dirty="0"/>
              <a:t> di Endpoint</a:t>
            </a:r>
          </a:p>
          <a:p>
            <a:pPr>
              <a:spcAft>
                <a:spcPts val="600"/>
              </a:spcAft>
              <a:defRPr sz="1400"/>
            </a:pPr>
            <a:r>
              <a:rPr dirty="0"/>
              <a:t>#### </a:t>
            </a:r>
            <a:r>
              <a:rPr dirty="0" err="1"/>
              <a:t>Autenticazione</a:t>
            </a:r>
            <a:br>
              <a:rPr dirty="0"/>
            </a:br>
            <a:r>
              <a:rPr dirty="0"/>
              <a:t>• POST /</a:t>
            </a:r>
            <a:r>
              <a:rPr dirty="0" err="1"/>
              <a:t>api</a:t>
            </a:r>
            <a:r>
              <a:rPr dirty="0"/>
              <a:t>/token - Genera token </a:t>
            </a:r>
            <a:r>
              <a:rPr dirty="0" err="1"/>
              <a:t>LiveKit</a:t>
            </a:r>
            <a:endParaRPr dirty="0"/>
          </a:p>
          <a:p>
            <a:pPr>
              <a:spcAft>
                <a:spcPts val="600"/>
              </a:spcAft>
              <a:defRPr sz="1400"/>
            </a:pPr>
            <a:r>
              <a:rPr dirty="0"/>
              <a:t>#### </a:t>
            </a:r>
            <a:r>
              <a:rPr dirty="0" err="1"/>
              <a:t>Configurazione</a:t>
            </a:r>
            <a:br>
              <a:rPr dirty="0"/>
            </a:br>
            <a:r>
              <a:rPr dirty="0"/>
              <a:t>• GET/POST /</a:t>
            </a:r>
            <a:r>
              <a:rPr dirty="0" err="1"/>
              <a:t>api</a:t>
            </a:r>
            <a:r>
              <a:rPr dirty="0"/>
              <a:t>/settings - </a:t>
            </a:r>
            <a:r>
              <a:rPr dirty="0" err="1"/>
              <a:t>Gestione</a:t>
            </a:r>
            <a:r>
              <a:rPr dirty="0"/>
              <a:t> </a:t>
            </a:r>
            <a:r>
              <a:rPr dirty="0" err="1"/>
              <a:t>impostazioni</a:t>
            </a:r>
            <a:br>
              <a:rPr dirty="0"/>
            </a:br>
            <a:r>
              <a:rPr dirty="0"/>
              <a:t>• GET /</a:t>
            </a:r>
            <a:r>
              <a:rPr dirty="0" err="1"/>
              <a:t>api</a:t>
            </a:r>
            <a:r>
              <a:rPr dirty="0"/>
              <a:t>/config - </a:t>
            </a:r>
            <a:r>
              <a:rPr dirty="0" err="1"/>
              <a:t>Configurazione</a:t>
            </a:r>
            <a:r>
              <a:rPr dirty="0"/>
              <a:t> </a:t>
            </a:r>
            <a:r>
              <a:rPr dirty="0" err="1"/>
              <a:t>pubblica</a:t>
            </a:r>
            <a:endParaRPr dirty="0"/>
          </a:p>
          <a:p>
            <a:pPr>
              <a:spcAft>
                <a:spcPts val="600"/>
              </a:spcAft>
              <a:defRPr sz="1400"/>
            </a:pPr>
            <a:r>
              <a:rPr dirty="0"/>
              <a:t>#### LLM Management</a:t>
            </a:r>
            <a:br>
              <a:rPr dirty="0"/>
            </a:br>
            <a:r>
              <a:rPr dirty="0"/>
              <a:t>• GET /</a:t>
            </a:r>
            <a:r>
              <a:rPr dirty="0" err="1"/>
              <a:t>api</a:t>
            </a:r>
            <a:r>
              <a:rPr dirty="0"/>
              <a:t>/</a:t>
            </a:r>
            <a:r>
              <a:rPr dirty="0" err="1"/>
              <a:t>ollama</a:t>
            </a:r>
            <a:r>
              <a:rPr dirty="0"/>
              <a:t>/models - Lista </a:t>
            </a:r>
            <a:r>
              <a:rPr dirty="0" err="1"/>
              <a:t>modelli</a:t>
            </a:r>
            <a:r>
              <a:rPr dirty="0"/>
              <a:t> </a:t>
            </a:r>
            <a:r>
              <a:rPr dirty="0" err="1"/>
              <a:t>Ollama</a:t>
            </a:r>
            <a:br>
              <a:rPr dirty="0"/>
            </a:br>
            <a:r>
              <a:rPr dirty="0"/>
              <a:t>• GET /</a:t>
            </a:r>
            <a:r>
              <a:rPr dirty="0" err="1"/>
              <a:t>api</a:t>
            </a:r>
            <a:r>
              <a:rPr dirty="0"/>
              <a:t>/</a:t>
            </a:r>
            <a:r>
              <a:rPr dirty="0" err="1"/>
              <a:t>openrouter</a:t>
            </a:r>
            <a:r>
              <a:rPr dirty="0"/>
              <a:t>/models - Lista </a:t>
            </a:r>
            <a:r>
              <a:rPr dirty="0" err="1"/>
              <a:t>modelli</a:t>
            </a:r>
            <a:r>
              <a:rPr dirty="0"/>
              <a:t> </a:t>
            </a:r>
            <a:r>
              <a:rPr dirty="0" err="1"/>
              <a:t>OpenRouter</a:t>
            </a:r>
            <a:r>
              <a:rPr dirty="0"/>
              <a:t> (100+)</a:t>
            </a:r>
            <a:br>
              <a:rPr dirty="0"/>
            </a:br>
            <a:r>
              <a:rPr dirty="0"/>
              <a:t>• POST /</a:t>
            </a:r>
            <a:r>
              <a:rPr dirty="0" err="1"/>
              <a:t>api</a:t>
            </a:r>
            <a:r>
              <a:rPr dirty="0"/>
              <a:t>/</a:t>
            </a:r>
            <a:r>
              <a:rPr dirty="0" err="1"/>
              <a:t>ollama</a:t>
            </a:r>
            <a:r>
              <a:rPr dirty="0"/>
              <a:t>/select - </a:t>
            </a:r>
            <a:r>
              <a:rPr dirty="0" err="1"/>
              <a:t>Seleziona</a:t>
            </a:r>
            <a:r>
              <a:rPr dirty="0"/>
              <a:t> </a:t>
            </a:r>
            <a:r>
              <a:rPr dirty="0" err="1"/>
              <a:t>modello</a:t>
            </a:r>
            <a:br>
              <a:rPr dirty="0"/>
            </a:br>
            <a:r>
              <a:rPr dirty="0"/>
              <a:t>• POST /</a:t>
            </a:r>
            <a:r>
              <a:rPr dirty="0" err="1"/>
              <a:t>api</a:t>
            </a:r>
            <a:r>
              <a:rPr dirty="0"/>
              <a:t>/</a:t>
            </a:r>
            <a:r>
              <a:rPr dirty="0" err="1"/>
              <a:t>openrouter</a:t>
            </a:r>
            <a:r>
              <a:rPr dirty="0"/>
              <a:t>/select - </a:t>
            </a:r>
            <a:r>
              <a:rPr dirty="0" err="1"/>
              <a:t>Seleziona</a:t>
            </a:r>
            <a:r>
              <a:rPr dirty="0"/>
              <a:t> </a:t>
            </a:r>
            <a:r>
              <a:rPr dirty="0" err="1"/>
              <a:t>modello</a:t>
            </a:r>
            <a:endParaRPr dirty="0"/>
          </a:p>
          <a:p>
            <a:pPr>
              <a:spcAft>
                <a:spcPts val="600"/>
              </a:spcAft>
              <a:defRPr sz="1400"/>
            </a:pPr>
            <a:r>
              <a:rPr dirty="0"/>
              <a:t>#### TTS Management</a:t>
            </a:r>
            <a:br>
              <a:rPr dirty="0"/>
            </a:br>
            <a:r>
              <a:rPr dirty="0"/>
              <a:t>• GET /</a:t>
            </a:r>
            <a:r>
              <a:rPr dirty="0" err="1"/>
              <a:t>api</a:t>
            </a:r>
            <a:r>
              <a:rPr dirty="0"/>
              <a:t>/</a:t>
            </a:r>
            <a:r>
              <a:rPr dirty="0" err="1"/>
              <a:t>tts</a:t>
            </a:r>
            <a:r>
              <a:rPr dirty="0"/>
              <a:t>/engines - Lista engines</a:t>
            </a:r>
            <a:br>
              <a:rPr dirty="0"/>
            </a:br>
            <a:r>
              <a:rPr dirty="0"/>
              <a:t>• GET /</a:t>
            </a:r>
            <a:r>
              <a:rPr dirty="0" err="1"/>
              <a:t>api</a:t>
            </a:r>
            <a:r>
              <a:rPr dirty="0"/>
              <a:t>/</a:t>
            </a:r>
            <a:r>
              <a:rPr dirty="0" err="1"/>
              <a:t>tts</a:t>
            </a:r>
            <a:r>
              <a:rPr dirty="0"/>
              <a:t>/{engine}/voices - Voci </a:t>
            </a:r>
            <a:r>
              <a:rPr dirty="0" err="1"/>
              <a:t>disponibili</a:t>
            </a:r>
            <a:br>
              <a:rPr dirty="0"/>
            </a:br>
            <a:r>
              <a:rPr dirty="0"/>
              <a:t>• POST /</a:t>
            </a:r>
            <a:r>
              <a:rPr dirty="0" err="1"/>
              <a:t>api</a:t>
            </a:r>
            <a:r>
              <a:rPr dirty="0"/>
              <a:t>/</a:t>
            </a:r>
            <a:r>
              <a:rPr dirty="0" err="1"/>
              <a:t>tts</a:t>
            </a:r>
            <a:r>
              <a:rPr dirty="0"/>
              <a:t>/current - </a:t>
            </a:r>
            <a:r>
              <a:rPr dirty="0" err="1"/>
              <a:t>Imposta</a:t>
            </a:r>
            <a:r>
              <a:rPr dirty="0"/>
              <a:t> TTS</a:t>
            </a:r>
            <a:br>
              <a:rPr dirty="0"/>
            </a:br>
            <a:r>
              <a:rPr dirty="0"/>
              <a:t>• POST /</a:t>
            </a:r>
            <a:r>
              <a:rPr dirty="0" err="1"/>
              <a:t>api</a:t>
            </a:r>
            <a:r>
              <a:rPr dirty="0"/>
              <a:t>/</a:t>
            </a:r>
            <a:r>
              <a:rPr dirty="0" err="1"/>
              <a:t>tts</a:t>
            </a:r>
            <a:r>
              <a:rPr dirty="0"/>
              <a:t>/test - Test </a:t>
            </a:r>
            <a:r>
              <a:rPr dirty="0" err="1"/>
              <a:t>sintesi</a:t>
            </a:r>
            <a:r>
              <a:rPr dirty="0"/>
              <a:t> (</a:t>
            </a:r>
            <a:r>
              <a:rPr dirty="0" err="1"/>
              <a:t>ritorna</a:t>
            </a:r>
            <a:r>
              <a:rPr dirty="0"/>
              <a:t> audio)</a:t>
            </a:r>
          </a:p>
          <a:p>
            <a:pPr>
              <a:spcAft>
                <a:spcPts val="600"/>
              </a:spcAft>
              <a:defRPr sz="1400"/>
            </a:pPr>
            <a:r>
              <a:rPr dirty="0"/>
              <a:t>#### Chat Management</a:t>
            </a:r>
            <a:br>
              <a:rPr dirty="0"/>
            </a:br>
            <a:r>
              <a:rPr dirty="0"/>
              <a:t>• GET/POST /</a:t>
            </a:r>
            <a:r>
              <a:rPr dirty="0" err="1"/>
              <a:t>api</a:t>
            </a:r>
            <a:r>
              <a:rPr dirty="0"/>
              <a:t>/chats - </a:t>
            </a:r>
            <a:r>
              <a:rPr dirty="0" err="1"/>
              <a:t>Gestione</a:t>
            </a:r>
            <a:r>
              <a:rPr dirty="0"/>
              <a:t> chat</a:t>
            </a:r>
            <a:br>
              <a:rPr dirty="0"/>
            </a:br>
            <a:r>
              <a:rPr dirty="0"/>
              <a:t>• GET /</a:t>
            </a:r>
            <a:r>
              <a:rPr dirty="0" err="1"/>
              <a:t>api</a:t>
            </a:r>
            <a:r>
              <a:rPr dirty="0"/>
              <a:t>/chats/{id} - </a:t>
            </a:r>
            <a:r>
              <a:rPr dirty="0" err="1"/>
              <a:t>Dettagli</a:t>
            </a:r>
            <a:r>
              <a:rPr dirty="0"/>
              <a:t> con </a:t>
            </a:r>
            <a:r>
              <a:rPr dirty="0" err="1"/>
              <a:t>messaggi</a:t>
            </a:r>
            <a:endParaRPr dirty="0"/>
          </a:p>
          <a:p>
            <a:pPr>
              <a:spcAft>
                <a:spcPts val="600"/>
              </a:spcAft>
              <a:defRPr sz="1400"/>
            </a:pPr>
            <a:r>
              <a:rPr dirty="0"/>
              <a:t>#### Status</a:t>
            </a:r>
            <a:br>
              <a:rPr dirty="0"/>
            </a:br>
            <a:r>
              <a:rPr dirty="0"/>
              <a:t>• GET /</a:t>
            </a:r>
            <a:r>
              <a:rPr dirty="0" err="1"/>
              <a:t>api</a:t>
            </a:r>
            <a:r>
              <a:rPr dirty="0"/>
              <a:t>/health - Health check</a:t>
            </a:r>
            <a:br>
              <a:rPr dirty="0"/>
            </a:br>
            <a:r>
              <a:rPr dirty="0"/>
              <a:t>• GET /</a:t>
            </a:r>
            <a:r>
              <a:rPr dirty="0" err="1"/>
              <a:t>api</a:t>
            </a:r>
            <a:r>
              <a:rPr dirty="0"/>
              <a:t>/status - Status tutti </a:t>
            </a:r>
            <a:r>
              <a:rPr dirty="0" err="1"/>
              <a:t>servizi</a:t>
            </a:r>
            <a:br>
              <a:rPr dirty="0"/>
            </a:br>
            <a:r>
              <a:rPr dirty="0"/>
              <a:t>• GET /</a:t>
            </a:r>
            <a:r>
              <a:rPr dirty="0" err="1"/>
              <a:t>api</a:t>
            </a:r>
            <a:r>
              <a:rPr dirty="0"/>
              <a:t>/timing - </a:t>
            </a:r>
            <a:r>
              <a:rPr dirty="0" err="1"/>
              <a:t>Metriche</a:t>
            </a:r>
            <a:r>
              <a:rPr dirty="0"/>
              <a:t> performance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.env</a:t>
            </a:r>
          </a:p>
        </p:txBody>
      </p:sp>
      <p:sp>
        <p:nvSpPr>
          <p:cNvPr id="3" name="Content Placeholder 2"/>
          <p:cNvSpPr>
            <a:spLocks noGrp="1"/>
          </p:cNvSpPr>
          <p:nvPr>
            <p:ph idx="1"/>
          </p:nvPr>
        </p:nvSpPr>
        <p:spPr/>
        <p:txBody>
          <a:bodyPr wrap="square"/>
          <a:lstStyle/>
          <a:p>
            <a:endParaRPr/>
          </a:p>
          <a:p>
            <a:pPr>
              <a:spcAft>
                <a:spcPts val="600"/>
              </a:spcAft>
              <a:defRPr sz="1400"/>
            </a:pPr>
            <a:r>
              <a:t>Personalizzazione Sistema</a:t>
            </a:r>
          </a:p>
          <a:p>
            <a:pPr>
              <a:spcAft>
                <a:spcPts val="600"/>
              </a:spcAft>
              <a:defRPr sz="1400"/>
            </a:pPr>
            <a:r>
              <a:t>#### TTS Engine Selection</a:t>
            </a:r>
            <a:br/>
            <a:r>
              <a:t>[CODE BLOCK]</a:t>
            </a:r>
          </a:p>
          <a:p>
            <a:pPr>
              <a:spcAft>
                <a:spcPts val="600"/>
              </a:spcAft>
              <a:defRPr sz="1400"/>
            </a:pPr>
            <a:r>
              <a:t>#### LLM Provider Switch</a:t>
            </a:r>
            <a:br/>
            <a:r>
              <a:t>[CODE BLOCK]</a:t>
            </a:r>
          </a:p>
          <a:p>
            <a:pPr>
              <a:spcAft>
                <a:spcPts val="600"/>
              </a:spcAft>
              <a:defRPr sz="1400"/>
            </a:pPr>
            <a:r>
              <a:t>#### Whisper Model Tuning</a:t>
            </a:r>
            <a:br/>
            <a:r>
              <a:t>[CODE BLOCK]</a:t>
            </a:r>
          </a:p>
          <a:p>
            <a:pPr>
              <a:spcAft>
                <a:spcPts val="600"/>
              </a:spcAft>
              <a:defRPr sz="1400"/>
            </a:pPr>
            <a:r>
              <a:t>#### System Prompt</a:t>
            </a:r>
            <a:br/>
            <a:r>
              <a:t>[CODE BLOCK]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17: Performance e Ottimizzazioni</a:t>
            </a:r>
          </a:p>
        </p:txBody>
      </p:sp>
      <p:sp>
        <p:nvSpPr>
          <p:cNvPr id="3" name="Content Placeholder 2"/>
          <p:cNvSpPr>
            <a:spLocks noGrp="1"/>
          </p:cNvSpPr>
          <p:nvPr>
            <p:ph idx="1"/>
          </p:nvPr>
        </p:nvSpPr>
        <p:spPr/>
        <p:txBody>
          <a:bodyPr wrap="square"/>
          <a:lstStyle/>
          <a:p>
            <a:endParaRPr/>
          </a:p>
          <a:p>
            <a:pPr>
              <a:spcAft>
                <a:spcPts val="600"/>
              </a:spcAft>
              <a:defRPr sz="1400"/>
            </a:pPr>
            <a:r>
              <a:t>Metriche e Tuning</a:t>
            </a:r>
          </a:p>
          <a:p>
            <a:pPr>
              <a:spcAft>
                <a:spcPts val="600"/>
              </a:spcAft>
              <a:defRPr sz="1400"/>
            </a:pPr>
            <a:r>
              <a:t>Metriche Tracciate:</a:t>
            </a:r>
            <a:br/>
            <a:r>
              <a:t>• STT Time: Tempo trascrizione</a:t>
            </a:r>
            <a:br/>
            <a:r>
              <a:t>• LLM Time: Tempo generazione (incluso TTFT)</a:t>
            </a:r>
            <a:br/>
            <a:r>
              <a:t>• TTS Time: Tempo sintesi</a:t>
            </a:r>
            <a:br/>
            <a:r>
              <a:t>• E2E Latency: Latenza totale</a:t>
            </a:r>
            <a:br/>
            <a:r>
              <a:t>• To First Audio: Tempo primo chunk audio</a:t>
            </a:r>
          </a:p>
          <a:p>
            <a:pPr>
              <a:spcAft>
                <a:spcPts val="600"/>
              </a:spcAft>
              <a:defRPr sz="1400"/>
            </a:pPr>
            <a:r>
              <a:t>Ottimizzazioni:</a:t>
            </a:r>
          </a:p>
          <a:p>
            <a:pPr>
              <a:spcAft>
                <a:spcPts val="600"/>
              </a:spcAft>
              <a:defRPr sz="1400"/>
            </a:pPr>
            <a:r>
              <a:t>Whisper:</a:t>
            </a:r>
            <a:br/>
            <a:r>
              <a:t>• GPU: device=cuda, compute_type=float16</a:t>
            </a:r>
            <a:br/>
            <a:r>
              <a:t>• CPU: device=cpu, compute_type=int8</a:t>
            </a:r>
          </a:p>
          <a:p>
            <a:pPr>
              <a:spcAft>
                <a:spcPts val="600"/>
              </a:spcAft>
              <a:defRPr sz="1400"/>
            </a:pPr>
            <a:r>
              <a:t>TTS:</a:t>
            </a:r>
            <a:br/>
            <a:r>
              <a:t>• VibeVoice/Chatterbox: Richiedono GPU</a:t>
            </a:r>
            <a:br/>
            <a:r>
              <a:t>• Edge TTS: Nessuna ottimizzazione (cloud)</a:t>
            </a:r>
            <a:br/>
            <a:r>
              <a:t>• Piper: CPU sufficiente</a:t>
            </a:r>
          </a:p>
          <a:p>
            <a:pPr>
              <a:spcAft>
                <a:spcPts val="600"/>
              </a:spcAft>
              <a:defRPr sz="1400"/>
            </a:pPr>
            <a:r>
              <a:t>LLM:</a:t>
            </a:r>
            <a:br/>
            <a:r>
              <a:t>• Ollama: Quantizzazione automatica</a:t>
            </a:r>
            <a:br/>
            <a:r>
              <a:t>• OpenRouter: Nessuna ottimizzazione lato client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18: Caratteristiche Avanzate</a:t>
            </a:r>
          </a:p>
        </p:txBody>
      </p:sp>
      <p:sp>
        <p:nvSpPr>
          <p:cNvPr id="3" name="Content Placeholder 2"/>
          <p:cNvSpPr>
            <a:spLocks noGrp="1"/>
          </p:cNvSpPr>
          <p:nvPr>
            <p:ph idx="1"/>
          </p:nvPr>
        </p:nvSpPr>
        <p:spPr>
          <a:xfrm>
            <a:off x="457200" y="1417638"/>
            <a:ext cx="8229600" cy="4525963"/>
          </a:xfrm>
        </p:spPr>
        <p:txBody>
          <a:bodyPr wrap="square">
            <a:normAutofit fontScale="92500" lnSpcReduction="20000"/>
          </a:bodyPr>
          <a:lstStyle/>
          <a:p>
            <a:endParaRPr dirty="0"/>
          </a:p>
          <a:p>
            <a:pPr>
              <a:spcAft>
                <a:spcPts val="600"/>
              </a:spcAft>
              <a:defRPr sz="1400"/>
            </a:pPr>
            <a:r>
              <a:rPr dirty="0" err="1"/>
              <a:t>Funzionalità</a:t>
            </a:r>
            <a:r>
              <a:rPr dirty="0"/>
              <a:t> </a:t>
            </a:r>
            <a:r>
              <a:rPr dirty="0" err="1"/>
              <a:t>Aggiuntive</a:t>
            </a:r>
            <a:endParaRPr dirty="0"/>
          </a:p>
          <a:p>
            <a:pPr>
              <a:spcAft>
                <a:spcPts val="600"/>
              </a:spcAft>
              <a:defRPr sz="1400"/>
            </a:pPr>
            <a:r>
              <a:rPr dirty="0"/>
              <a:t>#### 1. Video Analysis</a:t>
            </a:r>
            <a:br>
              <a:rPr dirty="0"/>
            </a:br>
            <a:r>
              <a:rPr dirty="0"/>
              <a:t>• </a:t>
            </a:r>
            <a:r>
              <a:rPr dirty="0" err="1"/>
              <a:t>Estrazione</a:t>
            </a:r>
            <a:r>
              <a:rPr dirty="0"/>
              <a:t> frame da webcam/screen</a:t>
            </a:r>
            <a:br>
              <a:rPr dirty="0"/>
            </a:br>
            <a:r>
              <a:rPr dirty="0"/>
              <a:t>• </a:t>
            </a:r>
            <a:r>
              <a:rPr dirty="0" err="1"/>
              <a:t>Analisi</a:t>
            </a:r>
            <a:r>
              <a:rPr dirty="0"/>
              <a:t> con GPT-4 Vision o </a:t>
            </a:r>
            <a:r>
              <a:rPr dirty="0" err="1"/>
              <a:t>LLaVA</a:t>
            </a:r>
            <a:br>
              <a:rPr dirty="0"/>
            </a:br>
            <a:r>
              <a:rPr dirty="0"/>
              <a:t>• Function calling per </a:t>
            </a:r>
            <a:r>
              <a:rPr dirty="0" err="1"/>
              <a:t>analisi</a:t>
            </a:r>
            <a:r>
              <a:rPr dirty="0"/>
              <a:t> </a:t>
            </a:r>
            <a:r>
              <a:rPr dirty="0" err="1"/>
              <a:t>specifiche</a:t>
            </a:r>
            <a:endParaRPr dirty="0"/>
          </a:p>
          <a:p>
            <a:pPr>
              <a:spcAft>
                <a:spcPts val="600"/>
              </a:spcAft>
              <a:defRPr sz="1400"/>
            </a:pPr>
            <a:r>
              <a:rPr dirty="0"/>
              <a:t>#### 2. Voice Cloning (Chatterbox)</a:t>
            </a:r>
            <a:br>
              <a:rPr dirty="0"/>
            </a:br>
            <a:r>
              <a:rPr dirty="0"/>
              <a:t>• </a:t>
            </a:r>
            <a:r>
              <a:rPr dirty="0" err="1"/>
              <a:t>Clona</a:t>
            </a:r>
            <a:r>
              <a:rPr dirty="0"/>
              <a:t> voce da file audio</a:t>
            </a:r>
            <a:br>
              <a:rPr dirty="0"/>
            </a:br>
            <a:r>
              <a:rPr dirty="0"/>
              <a:t>• Emotion control</a:t>
            </a:r>
            <a:br>
              <a:rPr dirty="0"/>
            </a:br>
            <a:r>
              <a:rPr dirty="0"/>
              <a:t>• Exaggeration control</a:t>
            </a:r>
          </a:p>
          <a:p>
            <a:pPr>
              <a:spcAft>
                <a:spcPts val="600"/>
              </a:spcAft>
              <a:defRPr sz="1400"/>
            </a:pPr>
            <a:r>
              <a:rPr dirty="0"/>
              <a:t>#### 3. Multi-Language Support</a:t>
            </a:r>
            <a:br>
              <a:rPr dirty="0"/>
            </a:br>
            <a:r>
              <a:rPr dirty="0"/>
              <a:t>• Auto-detection lingua (Whisper)</a:t>
            </a:r>
            <a:br>
              <a:rPr dirty="0"/>
            </a:br>
            <a:r>
              <a:rPr dirty="0"/>
              <a:t>• TTS </a:t>
            </a:r>
            <a:r>
              <a:rPr dirty="0" err="1"/>
              <a:t>multilingua</a:t>
            </a:r>
            <a:r>
              <a:rPr dirty="0"/>
              <a:t> (Edge, Kokoro, Chatterbox)</a:t>
            </a:r>
            <a:br>
              <a:rPr dirty="0"/>
            </a:br>
            <a:r>
              <a:rPr dirty="0"/>
              <a:t>• LLM </a:t>
            </a:r>
            <a:r>
              <a:rPr dirty="0" err="1"/>
              <a:t>risponde</a:t>
            </a:r>
            <a:r>
              <a:rPr dirty="0"/>
              <a:t> </a:t>
            </a:r>
            <a:r>
              <a:rPr dirty="0" err="1"/>
              <a:t>nella</a:t>
            </a:r>
            <a:r>
              <a:rPr dirty="0"/>
              <a:t> lingua </a:t>
            </a:r>
            <a:r>
              <a:rPr dirty="0" err="1"/>
              <a:t>dell'utente</a:t>
            </a:r>
            <a:endParaRPr dirty="0"/>
          </a:p>
          <a:p>
            <a:pPr>
              <a:spcAft>
                <a:spcPts val="600"/>
              </a:spcAft>
              <a:defRPr sz="1400"/>
            </a:pPr>
            <a:r>
              <a:rPr dirty="0"/>
              <a:t>#### 4. Conversation History</a:t>
            </a:r>
            <a:br>
              <a:rPr dirty="0"/>
            </a:br>
            <a:r>
              <a:rPr dirty="0"/>
              <a:t>• </a:t>
            </a:r>
            <a:r>
              <a:rPr dirty="0" err="1"/>
              <a:t>Persistenza</a:t>
            </a:r>
            <a:r>
              <a:rPr dirty="0"/>
              <a:t> </a:t>
            </a:r>
            <a:r>
              <a:rPr dirty="0" err="1"/>
              <a:t>completa</a:t>
            </a:r>
            <a:r>
              <a:rPr dirty="0"/>
              <a:t> in PostgreSQL</a:t>
            </a:r>
            <a:br>
              <a:rPr dirty="0"/>
            </a:br>
            <a:r>
              <a:rPr dirty="0"/>
              <a:t>• Context injection </a:t>
            </a:r>
            <a:r>
              <a:rPr dirty="0" err="1"/>
              <a:t>configurabile</a:t>
            </a:r>
            <a:br>
              <a:rPr dirty="0"/>
            </a:br>
            <a:r>
              <a:rPr dirty="0"/>
              <a:t>• Chat management via API</a:t>
            </a:r>
          </a:p>
          <a:p>
            <a:pPr>
              <a:spcAft>
                <a:spcPts val="600"/>
              </a:spcAft>
              <a:defRPr sz="1400"/>
            </a:pPr>
            <a:r>
              <a:rPr dirty="0"/>
              <a:t>#### 5. Real-Time Metrics</a:t>
            </a:r>
            <a:br>
              <a:rPr dirty="0"/>
            </a:br>
            <a:r>
              <a:rPr dirty="0"/>
              <a:t>• Timing stats via API</a:t>
            </a:r>
            <a:br>
              <a:rPr dirty="0"/>
            </a:br>
            <a:r>
              <a:rPr dirty="0"/>
              <a:t>• Service status monitoring</a:t>
            </a:r>
            <a:br>
              <a:rPr dirty="0"/>
            </a:br>
            <a:r>
              <a:rPr dirty="0"/>
              <a:t>• Performance tracking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19: Requisiti di Sistema</a:t>
            </a:r>
          </a:p>
        </p:txBody>
      </p:sp>
      <p:sp>
        <p:nvSpPr>
          <p:cNvPr id="3" name="Content Placeholder 2"/>
          <p:cNvSpPr>
            <a:spLocks noGrp="1"/>
          </p:cNvSpPr>
          <p:nvPr>
            <p:ph idx="1"/>
          </p:nvPr>
        </p:nvSpPr>
        <p:spPr/>
        <p:txBody>
          <a:bodyPr wrap="square"/>
          <a:lstStyle/>
          <a:p>
            <a:endParaRPr/>
          </a:p>
          <a:p>
            <a:pPr>
              <a:spcAft>
                <a:spcPts val="600"/>
              </a:spcAft>
              <a:defRPr sz="1400"/>
            </a:pPr>
            <a:r>
              <a:t>Minimi vs Consigliati</a:t>
            </a:r>
          </a:p>
          <a:p>
            <a:pPr>
              <a:spcAft>
                <a:spcPts val="600"/>
              </a:spcAft>
              <a:defRPr sz="1400"/>
            </a:pPr>
            <a:r>
              <a:t>#### Requisiti Minimi</a:t>
            </a:r>
            <a:br/>
            <a:r>
              <a:t>• CPU: 4 core</a:t>
            </a:r>
            <a:br/>
            <a:r>
              <a:t>• RAM: 8GB</a:t>
            </a:r>
            <a:br/>
            <a:r>
              <a:t>• Storage: 20GB</a:t>
            </a:r>
            <a:br/>
            <a:r>
              <a:t>• Network: Internet (per Edge TTS/OpenRouter)</a:t>
            </a:r>
          </a:p>
          <a:p>
            <a:pPr>
              <a:spcAft>
                <a:spcPts val="600"/>
              </a:spcAft>
              <a:defRPr sz="1400"/>
            </a:pPr>
            <a:r>
              <a:t>#### Requisiti Consigliati</a:t>
            </a:r>
            <a:br/>
            <a:r>
              <a:t>• CPU: 8+ core</a:t>
            </a:r>
            <a:br/>
            <a:r>
              <a:t>• RAM: 16GB+ (32GB per TTS avanzati)</a:t>
            </a:r>
            <a:br/>
            <a:r>
              <a:t>• Storage: 50GB+ (per modelli)</a:t>
            </a:r>
            <a:br/>
            <a:r>
              <a:t>• GPU: NVIDIA con CUDA (opzionale, consigliato)</a:t>
            </a:r>
            <a:br/>
            <a:r>
              <a:t>• Network: Connessione stabile</a:t>
            </a:r>
          </a:p>
          <a:p>
            <a:pPr>
              <a:spcAft>
                <a:spcPts val="600"/>
              </a:spcAft>
              <a:defRPr sz="1400"/>
            </a:pPr>
            <a:r>
              <a:t>#### Software Richiesto</a:t>
            </a:r>
            <a:br/>
            <a:r>
              <a:t>• Docker &amp; Docker Compose</a:t>
            </a:r>
            <a:br/>
            <a:r>
              <a:t>• Python 3.10+</a:t>
            </a:r>
            <a:br/>
            <a:r>
              <a:t>• Ollama (per LLM locale)</a:t>
            </a:r>
            <a:br/>
            <a:r>
              <a:t>• LiveKit Server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Verifica</a:t>
            </a:r>
          </a:p>
        </p:txBody>
      </p:sp>
      <p:sp>
        <p:nvSpPr>
          <p:cNvPr id="3" name="Content Placeholder 2"/>
          <p:cNvSpPr>
            <a:spLocks noGrp="1"/>
          </p:cNvSpPr>
          <p:nvPr>
            <p:ph idx="1"/>
          </p:nvPr>
        </p:nvSpPr>
        <p:spPr/>
        <p:txBody>
          <a:bodyPr wrap="square"/>
          <a:lstStyle/>
          <a:p>
            <a:endParaRPr/>
          </a:p>
          <a:p>
            <a:pPr>
              <a:spcAft>
                <a:spcPts val="600"/>
              </a:spcAft>
              <a:defRPr sz="1400"/>
            </a:pPr>
            <a:r>
              <a:t>Quick Start</a:t>
            </a:r>
          </a:p>
          <a:p>
            <a:pPr>
              <a:spcAft>
                <a:spcPts val="600"/>
              </a:spcAft>
              <a:defRPr sz="1400"/>
            </a:pPr>
            <a:r>
              <a:t>#### 1. Setup Iniziale</a:t>
            </a:r>
            <a:br/>
            <a:r>
              <a:t>[CODE BLOCK]</a:t>
            </a:r>
          </a:p>
          <a:p>
            <a:pPr>
              <a:spcAft>
                <a:spcPts val="600"/>
              </a:spcAft>
              <a:defRPr sz="1400"/>
            </a:pPr>
            <a:r>
              <a:t>#### 2. Avvio Servizi</a:t>
            </a:r>
            <a:br/>
            <a:r>
              <a:t>[CODE BLOCK]</a:t>
            </a:r>
          </a:p>
          <a:p>
            <a:pPr>
              <a:spcAft>
                <a:spcPts val="600"/>
              </a:spcAft>
              <a:defRPr sz="1400"/>
            </a:pPr>
            <a:r>
              <a:t>#### 3. Avvio LiveKit (Host)</a:t>
            </a:r>
            <a:br/>
            <a:r>
              <a:t>[CODE BLOCK]</a:t>
            </a:r>
          </a:p>
          <a:p>
            <a:pPr>
              <a:spcAft>
                <a:spcPts val="600"/>
              </a:spcAft>
              <a:defRPr sz="1400"/>
            </a:pPr>
            <a:r>
              <a:t>#### 4. Accesso</a:t>
            </a:r>
            <a:br/>
            <a:r>
              <a:t>[CODE BLOCK]</a:t>
            </a:r>
          </a:p>
          <a:p>
            <a:pPr>
              <a:spcAft>
                <a:spcPts val="600"/>
              </a:spcAft>
              <a:defRPr sz="1400"/>
            </a:pPr>
            <a:r>
              <a:t>#### 5. Verifica Status</a:t>
            </a:r>
            <a:br/>
            <a:r>
              <a:t>[CODE BLOCK]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21: Sicurezza e Best Practices</a:t>
            </a:r>
          </a:p>
        </p:txBody>
      </p:sp>
      <p:sp>
        <p:nvSpPr>
          <p:cNvPr id="3" name="Content Placeholder 2"/>
          <p:cNvSpPr>
            <a:spLocks noGrp="1"/>
          </p:cNvSpPr>
          <p:nvPr>
            <p:ph idx="1"/>
          </p:nvPr>
        </p:nvSpPr>
        <p:spPr/>
        <p:txBody>
          <a:bodyPr wrap="square"/>
          <a:lstStyle/>
          <a:p>
            <a:endParaRPr/>
          </a:p>
          <a:p>
            <a:pPr>
              <a:spcAft>
                <a:spcPts val="600"/>
              </a:spcAft>
              <a:defRPr sz="1400"/>
            </a:pPr>
            <a:r>
              <a:t>Considerazioni di Sicurezza</a:t>
            </a:r>
          </a:p>
          <a:p>
            <a:pPr>
              <a:spcAft>
                <a:spcPts val="600"/>
              </a:spcAft>
              <a:defRPr sz="1400"/>
            </a:pPr>
            <a:r>
              <a:t>#### Sviluppo (Attuale)</a:t>
            </a:r>
            <a:br/>
            <a:r>
              <a:t>• ⚠️ Certificati SSL self-signed</a:t>
            </a:r>
            <a:br/>
            <a:r>
              <a:t>• ⚠️ Nessuna autenticazione API</a:t>
            </a:r>
            <a:br/>
            <a:r>
              <a:t>• ⚠️ CORS aperto a tutte le origini</a:t>
            </a:r>
          </a:p>
          <a:p>
            <a:pPr>
              <a:spcAft>
                <a:spcPts val="600"/>
              </a:spcAft>
              <a:defRPr sz="1400"/>
            </a:pPr>
            <a:r>
              <a:t>#### Produzione (Raccomandato)</a:t>
            </a:r>
            <a:br/>
            <a:r>
              <a:t>• ✅ Certificati Let's Encrypt o commerciali</a:t>
            </a:r>
            <a:br/>
            <a:r>
              <a:t>• ✅ JWT authentication per API</a:t>
            </a:r>
            <a:br/>
            <a:r>
              <a:t>• ✅ CORS restrittivo</a:t>
            </a:r>
            <a:br/>
            <a:r>
              <a:t>• ✅ Rate limiting</a:t>
            </a:r>
            <a:br/>
            <a:r>
              <a:t>• ✅ Firewall rules</a:t>
            </a:r>
            <a:br/>
            <a:r>
              <a:t>• ✅ Secrets management (non in .env)</a:t>
            </a:r>
            <a:br/>
            <a:r>
              <a:t>• ✅ Database encryption at rest</a:t>
            </a:r>
          </a:p>
          <a:p>
            <a:pPr>
              <a:spcAft>
                <a:spcPts val="600"/>
              </a:spcAft>
              <a:defRPr sz="1400"/>
            </a:pPr>
            <a:r>
              <a:t>#### Best Practices</a:t>
            </a:r>
            <a:br/>
            <a:r>
              <a:t>• Backup regolari database</a:t>
            </a:r>
            <a:br/>
            <a:r>
              <a:t>• Monitoring e logging</a:t>
            </a:r>
            <a:br/>
            <a:r>
              <a:t>• Update regolari dipendenze</a:t>
            </a:r>
            <a:br/>
            <a:r>
              <a:t>• Security scanning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agent/main.py</a:t>
            </a:r>
          </a:p>
        </p:txBody>
      </p:sp>
      <p:sp>
        <p:nvSpPr>
          <p:cNvPr id="3" name="Content Placeholder 2"/>
          <p:cNvSpPr>
            <a:spLocks noGrp="1"/>
          </p:cNvSpPr>
          <p:nvPr>
            <p:ph idx="1"/>
          </p:nvPr>
        </p:nvSpPr>
        <p:spPr/>
        <p:txBody>
          <a:bodyPr wrap="square"/>
          <a:lstStyle/>
          <a:p>
            <a:endParaRPr/>
          </a:p>
          <a:p>
            <a:pPr>
              <a:spcAft>
                <a:spcPts val="600"/>
              </a:spcAft>
              <a:defRPr sz="1400"/>
            </a:pPr>
            <a:r>
              <a:t>Come Estendere il Sistema</a:t>
            </a:r>
          </a:p>
          <a:p>
            <a:pPr>
              <a:spcAft>
                <a:spcPts val="600"/>
              </a:spcAft>
              <a:defRPr sz="1400"/>
            </a:pPr>
            <a:r>
              <a:t>#### 1. Nuovo TTS Engine</a:t>
            </a:r>
            <a:br/>
            <a:r>
              <a:t>[CODE BLOCK]</a:t>
            </a:r>
          </a:p>
          <a:p>
            <a:pPr>
              <a:spcAft>
                <a:spcPts val="600"/>
              </a:spcAft>
              <a:defRPr sz="1400"/>
            </a:pPr>
            <a:r>
              <a:t>#### 2. Nuovo LLM Provider</a:t>
            </a:r>
            <a:br/>
            <a:r>
              <a:t>[CODE BLOCK]</a:t>
            </a:r>
          </a:p>
          <a:p>
            <a:pPr>
              <a:spcAft>
                <a:spcPts val="600"/>
              </a:spcAft>
              <a:defRPr sz="1400"/>
            </a:pPr>
            <a:r>
              <a:t>#### 3. Nuove API Endpoints</a:t>
            </a:r>
            <a:br/>
            <a:r>
              <a:t>[CODE BLOCK]</a:t>
            </a:r>
          </a:p>
          <a:p>
            <a:pPr>
              <a:spcAft>
                <a:spcPts val="600"/>
              </a:spcAft>
              <a:defRPr sz="1400"/>
            </a:pPr>
            <a:r>
              <a:t>#### 4. Custom Function Tools</a:t>
            </a:r>
            <a:br/>
            <a:r>
              <a:t>[CODE BLOCK]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23: Roadmap e Sviluppi Futuri</a:t>
            </a:r>
          </a:p>
        </p:txBody>
      </p:sp>
      <p:sp>
        <p:nvSpPr>
          <p:cNvPr id="3" name="Content Placeholder 2"/>
          <p:cNvSpPr>
            <a:spLocks noGrp="1"/>
          </p:cNvSpPr>
          <p:nvPr>
            <p:ph idx="1"/>
          </p:nvPr>
        </p:nvSpPr>
        <p:spPr/>
        <p:txBody>
          <a:bodyPr wrap="square"/>
          <a:lstStyle/>
          <a:p>
            <a:endParaRPr/>
          </a:p>
          <a:p>
            <a:pPr>
              <a:spcAft>
                <a:spcPts val="400"/>
              </a:spcAft>
              <a:defRPr sz="1200"/>
            </a:pPr>
            <a:r>
              <a:t>Possibili Evoluzioni</a:t>
            </a:r>
          </a:p>
          <a:p>
            <a:pPr>
              <a:spcAft>
                <a:spcPts val="400"/>
              </a:spcAft>
              <a:defRPr sz="1200"/>
            </a:pPr>
            <a:r>
              <a:t>#### Breve Termine</a:t>
            </a:r>
            <a:br/>
            <a:r>
              <a:t>• [ ] Autenticazione utenti</a:t>
            </a:r>
            <a:br/>
            <a:r>
              <a:t>• [ ] Rate limiting</a:t>
            </a:r>
            <a:br/>
            <a:r>
              <a:t>• [ ] Monitoring dashboard</a:t>
            </a:r>
            <a:br/>
            <a:r>
              <a:t>• [ ] Export conversazioni (PDF, TXT)</a:t>
            </a:r>
          </a:p>
        </p:txBody>
      </p:sp>
      <p:pic>
        <p:nvPicPr>
          <p:cNvPr id="4" name="Picture 3" descr="06_metriche_performance.png"/>
          <p:cNvPicPr>
            <a:picLocks noChangeAspect="1"/>
          </p:cNvPicPr>
          <p:nvPr/>
        </p:nvPicPr>
        <p:blipFill>
          <a:blip r:embed="rId2"/>
          <a:stretch>
            <a:fillRect/>
          </a:stretch>
        </p:blipFill>
        <p:spPr>
          <a:xfrm>
            <a:off x="457200" y="2286000"/>
            <a:ext cx="8229600" cy="4114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24: Metriche e Performance</a:t>
            </a:r>
          </a:p>
        </p:txBody>
      </p:sp>
      <p:sp>
        <p:nvSpPr>
          <p:cNvPr id="3" name="Content Placeholder 2"/>
          <p:cNvSpPr>
            <a:spLocks noGrp="1"/>
          </p:cNvSpPr>
          <p:nvPr>
            <p:ph idx="1"/>
          </p:nvPr>
        </p:nvSpPr>
        <p:spPr/>
        <p:txBody>
          <a:bodyPr wrap="square"/>
          <a:lstStyle/>
          <a:p>
            <a:endParaRPr/>
          </a:p>
          <a:p>
            <a:pPr>
              <a:spcAft>
                <a:spcPts val="600"/>
              </a:spcAft>
              <a:defRPr sz="1400"/>
            </a:pPr>
            <a:r>
              <a:t>Le performance del sistema variano significativamente in base all'hardware disponibile. Con modelli piccoli su CPU, otteniamo latenze totali end-to-end di 1.6-2.4 secondi, con STT che contribuisce per 200-300ms, LLM per 1-1.5 secondi (di cui 200-400ms per il primo token), e TTS per 400-600ms. Utilizzando GPU e modelli avanzati, possiamo ridurre la latenza totale a 1.1-1.8 secondi, con miglioramenti particolarmente evidenti in STT (100-200ms con CUDA) e TTS (200-400ms con VibeVoice streaming). Il throughput è principalmente limitato dal LLM: Ollama locale gestisce circa 1-2 conversazioni simultanee per GPU, mentre OpenRouter è limitato dai rate limits dell'API. Le risorse tipiche richieste sono 8-16GB di RAM, 4-8GB di VRAM GPU per modelli avanzati, e 20-50GB di storage per tutti i modelli.</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Riavvia</a:t>
            </a:r>
          </a:p>
        </p:txBody>
      </p:sp>
      <p:sp>
        <p:nvSpPr>
          <p:cNvPr id="3" name="Content Placeholder 2"/>
          <p:cNvSpPr>
            <a:spLocks noGrp="1"/>
          </p:cNvSpPr>
          <p:nvPr>
            <p:ph idx="1"/>
          </p:nvPr>
        </p:nvSpPr>
        <p:spPr/>
        <p:txBody>
          <a:bodyPr wrap="square"/>
          <a:lstStyle/>
          <a:p>
            <a:endParaRPr/>
          </a:p>
          <a:p>
            <a:pPr>
              <a:spcAft>
                <a:spcPts val="600"/>
              </a:spcAft>
              <a:defRPr sz="1400"/>
            </a:pPr>
            <a:r>
              <a:t>Problemi e Soluzioni</a:t>
            </a:r>
          </a:p>
          <a:p>
            <a:pPr>
              <a:spcAft>
                <a:spcPts val="600"/>
              </a:spcAft>
              <a:defRPr sz="1400"/>
            </a:pPr>
            <a:r>
              <a:t>#### LiveKit non si avvia</a:t>
            </a:r>
            <a:br/>
            <a:r>
              <a:t>[CODE BLOCK]</a:t>
            </a:r>
          </a:p>
          <a:p>
            <a:pPr>
              <a:spcAft>
                <a:spcPts val="600"/>
              </a:spcAft>
              <a:defRPr sz="1400"/>
            </a:pPr>
            <a:r>
              <a:t>#### Ollama non raggiungibile</a:t>
            </a:r>
            <a:br/>
            <a:r>
              <a:t>[CODE BLOCK]</a:t>
            </a:r>
          </a:p>
          <a:p>
            <a:pPr>
              <a:spcAft>
                <a:spcPts val="600"/>
              </a:spcAft>
              <a:defRPr sz="1400"/>
            </a:pPr>
            <a:r>
              <a:t>#### TTS non funziona</a:t>
            </a:r>
            <a:br/>
            <a:r>
              <a:t>• Edge: Richiede internet</a:t>
            </a:r>
            <a:br/>
            <a:r>
              <a:t>• Piper: Verifica modelli scaricati</a:t>
            </a:r>
            <a:br/>
            <a:r>
              <a:t>• VibeVoice: Richiede GPU e TTS server esterno</a:t>
            </a:r>
            <a:br/>
            <a:r>
              <a:t>• Chatterbox: Verifica installazione e dipendenze</a:t>
            </a:r>
          </a:p>
          <a:p>
            <a:pPr>
              <a:spcAft>
                <a:spcPts val="600"/>
              </a:spcAft>
              <a:defRPr sz="1400"/>
            </a:pPr>
            <a:r>
              <a:t>#### Whisper lento</a:t>
            </a:r>
            <a:br/>
            <a:r>
              <a:t>• Usa modello più piccolo (tiny o base)</a:t>
            </a:r>
            <a:br/>
            <a:r>
              <a:t>• Abilita GPU: WHISPER_DEVICE=cuda</a:t>
            </a:r>
            <a:br/>
            <a:r>
              <a:t>• Riduci beam_size</a:t>
            </a:r>
          </a:p>
          <a:p>
            <a:pPr>
              <a:spcAft>
                <a:spcPts val="600"/>
              </a:spcAft>
              <a:defRPr sz="1400"/>
            </a:pPr>
            <a:r>
              <a:t>#### Database connection error</a:t>
            </a:r>
            <a:br/>
            <a:r>
              <a:t>[CODE BLOCK]</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26: Demo - Flusso Completo</a:t>
            </a:r>
          </a:p>
        </p:txBody>
      </p:sp>
      <p:sp>
        <p:nvSpPr>
          <p:cNvPr id="3" name="Content Placeholder 2"/>
          <p:cNvSpPr>
            <a:spLocks noGrp="1"/>
          </p:cNvSpPr>
          <p:nvPr>
            <p:ph idx="1"/>
          </p:nvPr>
        </p:nvSpPr>
        <p:spPr/>
        <p:txBody>
          <a:bodyPr wrap="square"/>
          <a:lstStyle/>
          <a:p>
            <a:endParaRPr/>
          </a:p>
          <a:p>
            <a:pPr>
              <a:spcAft>
                <a:spcPts val="600"/>
              </a:spcAft>
              <a:defRPr sz="1400"/>
            </a:pPr>
            <a:r>
              <a:t>Esempio di Conversazione</a:t>
            </a:r>
          </a:p>
          <a:p>
            <a:pPr>
              <a:spcAft>
                <a:spcPts val="600"/>
              </a:spcAft>
              <a:defRPr sz="1400"/>
            </a:pPr>
            <a:r>
              <a:t>[CODE BLOCK]</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Function tool per chiamate API</a:t>
            </a:r>
          </a:p>
        </p:txBody>
      </p:sp>
      <p:sp>
        <p:nvSpPr>
          <p:cNvPr id="3" name="Content Placeholder 2"/>
          <p:cNvSpPr>
            <a:spLocks noGrp="1"/>
          </p:cNvSpPr>
          <p:nvPr>
            <p:ph idx="1"/>
          </p:nvPr>
        </p:nvSpPr>
        <p:spPr/>
        <p:txBody>
          <a:bodyPr wrap="square"/>
          <a:lstStyle/>
          <a:p>
            <a:endParaRPr/>
          </a:p>
          <a:p>
            <a:pPr>
              <a:spcAft>
                <a:spcPts val="600"/>
              </a:spcAft>
              <a:defRPr sz="1400"/>
            </a:pPr>
            <a:r>
              <a:t>Come Integrare con Altri Sistemi</a:t>
            </a:r>
          </a:p>
          <a:p>
            <a:pPr>
              <a:spcAft>
                <a:spcPts val="600"/>
              </a:spcAft>
              <a:defRPr sz="1400"/>
            </a:pPr>
            <a:r>
              <a:t>#### 1. Webhook Integration</a:t>
            </a:r>
            <a:br/>
            <a:r>
              <a:t>[CODE BLOCK]</a:t>
            </a:r>
          </a:p>
          <a:p>
            <a:pPr>
              <a:spcAft>
                <a:spcPts val="600"/>
              </a:spcAft>
              <a:defRPr sz="1400"/>
            </a:pPr>
            <a:r>
              <a:t>#### 2. External API Calls</a:t>
            </a:r>
            <a:br/>
            <a:r>
              <a:t>[CODE BLOCK]</a:t>
            </a:r>
          </a:p>
          <a:p>
            <a:pPr>
              <a:spcAft>
                <a:spcPts val="600"/>
              </a:spcAft>
              <a:defRPr sz="1400"/>
            </a:pPr>
            <a:r>
              <a:t>#### 3. Database External</a:t>
            </a:r>
            <a:br/>
            <a:r>
              <a:t>• Modifica DATABASE_URL in .env</a:t>
            </a:r>
            <a:br/>
            <a:r>
              <a:t>• Supporta qualsiasi PostgreSQL remoto</a:t>
            </a:r>
          </a:p>
          <a:p>
            <a:pPr>
              <a:spcAft>
                <a:spcPts val="600"/>
              </a:spcAft>
              <a:defRPr sz="1400"/>
            </a:pPr>
            <a:r>
              <a:t>#### 4. Custom Frontend</a:t>
            </a:r>
            <a:br/>
            <a:r>
              <a:t>• API REST completamente documentate</a:t>
            </a:r>
            <a:br/>
            <a:r>
              <a:t>• WebSocket LiveKit per audio/video</a:t>
            </a:r>
            <a:br/>
            <a:r>
              <a:t>• Frontend può essere qualsiasi framework</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28: Conclusioni</a:t>
            </a:r>
          </a:p>
        </p:txBody>
      </p:sp>
      <p:sp>
        <p:nvSpPr>
          <p:cNvPr id="3" name="Content Placeholder 2"/>
          <p:cNvSpPr>
            <a:spLocks noGrp="1"/>
          </p:cNvSpPr>
          <p:nvPr>
            <p:ph idx="1"/>
          </p:nvPr>
        </p:nvSpPr>
        <p:spPr/>
        <p:txBody>
          <a:bodyPr wrap="square"/>
          <a:lstStyle/>
          <a:p>
            <a:endParaRPr/>
          </a:p>
          <a:p>
            <a:pPr>
              <a:spcAft>
                <a:spcPts val="600"/>
              </a:spcAft>
              <a:defRPr sz="1400"/>
            </a:pPr>
            <a:r>
              <a:t>Punti Chiave</a:t>
            </a:r>
          </a:p>
          <a:p>
            <a:pPr>
              <a:spcAft>
                <a:spcPts val="600"/>
              </a:spcAft>
              <a:defRPr sz="1400"/>
            </a:pPr>
            <a:r>
              <a:t>✅ Sistema Completo: STT + LLM + TTS integrato  </a:t>
            </a:r>
            <a:br/>
            <a:r>
              <a:t>✅ Self-Hosted: Privacy e controllo totale  </a:t>
            </a:r>
            <a:br/>
            <a:r>
              <a:t>✅ Modulare: Facile estendere e personalizzare  </a:t>
            </a:r>
            <a:br/>
            <a:r>
              <a:t>✅ Multi-Engine: Scelta tra diverse tecnologie  </a:t>
            </a:r>
            <a:br/>
            <a:r>
              <a:t>✅ Production-Ready: Docker, database, monitoring  </a:t>
            </a:r>
            <a:br/>
            <a:r>
              <a:t>✅ Open Source: Base per personalizzazioni</a:t>
            </a:r>
          </a:p>
          <a:p>
            <a:pPr>
              <a:spcAft>
                <a:spcPts val="600"/>
              </a:spcAft>
              <a:defRPr sz="1400"/>
            </a:pPr>
            <a:r>
              <a:t>Prossimi Passi</a:t>
            </a:r>
            <a:br/>
            <a:r>
              <a:t>Setup Ambiente: Docker Compose + LiveKit</a:t>
            </a:r>
            <a:br/>
            <a:r>
              <a:t>Configurazione: TTS, LLM, Whisper</a:t>
            </a:r>
            <a:br/>
            <a:r>
              <a:t>Testing: Verifica tutti i componenti</a:t>
            </a:r>
            <a:br/>
            <a:r>
              <a:t>Personalizzazione: System prompt, voci, modelli</a:t>
            </a:r>
            <a:br/>
            <a:r>
              <a:t>Deployment: Produzione con sicurezza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Slide 29: Q&amp;A</a:t>
            </a:r>
          </a:p>
        </p:txBody>
      </p:sp>
      <p:sp>
        <p:nvSpPr>
          <p:cNvPr id="3" name="Content Placeholder 2"/>
          <p:cNvSpPr>
            <a:spLocks noGrp="1"/>
          </p:cNvSpPr>
          <p:nvPr>
            <p:ph idx="1"/>
          </p:nvPr>
        </p:nvSpPr>
        <p:spPr/>
        <p:txBody>
          <a:bodyPr wrap="square"/>
          <a:lstStyle/>
          <a:p>
            <a:endParaRPr/>
          </a:p>
          <a:p>
            <a:pPr>
              <a:spcAft>
                <a:spcPts val="600"/>
              </a:spcAft>
              <a:defRPr sz="1400"/>
            </a:pPr>
            <a:r>
              <a:t>Domande?</a:t>
            </a:r>
          </a:p>
          <a:p>
            <a:pPr>
              <a:spcAft>
                <a:spcPts val="600"/>
              </a:spcAft>
              <a:defRPr sz="1400"/>
            </a:pPr>
            <a:r>
              <a:t>Contatti:</a:t>
            </a:r>
            <a:br/>
            <a:r>
              <a:t>• Repository: [GitHub]</a:t>
            </a:r>
            <a:br/>
            <a:r>
              <a:t>• Documentazione: DOCUMENTAZIONE.md</a:t>
            </a:r>
            <a:br/>
            <a:r>
              <a:t>• Issues: [GitHub Issues]</a:t>
            </a:r>
          </a:p>
          <a:p>
            <a:pPr>
              <a:spcAft>
                <a:spcPts val="600"/>
              </a:spcAft>
              <a:defRPr sz="1400"/>
            </a:pPr>
            <a:r>
              <a:t>Risorse:</a:t>
            </a:r>
            <a:br/>
            <a:r>
              <a:t>• LiveKit Docs: https://docs.livekit.io</a:t>
            </a:r>
            <a:br/>
            <a:r>
              <a:t>• Ollama: https://ollama.ai</a:t>
            </a:r>
            <a:br/>
            <a:r>
              <a:t>• OpenRouter: https://openrouter.ai</a:t>
            </a:r>
            <a:br/>
            <a:r>
              <a:t>• Whisper: https://github.com/openai/whisper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Grazie per l'Attenzione!</a:t>
            </a:r>
          </a:p>
        </p:txBody>
      </p:sp>
      <p:sp>
        <p:nvSpPr>
          <p:cNvPr id="3" name="Content Placeholder 2"/>
          <p:cNvSpPr>
            <a:spLocks noGrp="1"/>
          </p:cNvSpPr>
          <p:nvPr>
            <p:ph idx="1"/>
          </p:nvPr>
        </p:nvSpPr>
        <p:spPr/>
        <p:txBody>
          <a:bodyPr wrap="square"/>
          <a:lstStyle/>
          <a:p>
            <a:endParaRPr/>
          </a:p>
          <a:p>
            <a:pPr>
              <a:spcAft>
                <a:spcPts val="600"/>
              </a:spcAft>
              <a:defRPr sz="1400"/>
            </a:pPr>
            <a:r>
              <a:t>SophyAI Live Server</a:t>
            </a:r>
            <a:br/>
            <a:r>
              <a:t>Sistema di Assistente Vocale Self-Hosted</a:t>
            </a:r>
          </a:p>
          <a:p>
            <a:pPr>
              <a:spcAft>
                <a:spcPts val="600"/>
              </a:spcAft>
              <a:defRPr sz="1400"/>
            </a:pPr>
            <a:r>
              <a:t>Domande e Discussione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Note per il Presentatore</a:t>
            </a:r>
          </a:p>
        </p:txBody>
      </p:sp>
      <p:sp>
        <p:nvSpPr>
          <p:cNvPr id="3" name="Content Placeholder 2"/>
          <p:cNvSpPr>
            <a:spLocks noGrp="1"/>
          </p:cNvSpPr>
          <p:nvPr>
            <p:ph idx="1"/>
          </p:nvPr>
        </p:nvSpPr>
        <p:spPr/>
        <p:txBody>
          <a:bodyPr wrap="square"/>
          <a:lstStyle/>
          <a:p>
            <a:endParaRPr/>
          </a:p>
          <a:p>
            <a:pPr>
              <a:spcAft>
                <a:spcPts val="600"/>
              </a:spcAft>
              <a:defRPr sz="1400"/>
            </a:pPr>
            <a:r>
              <a:t>Timing Consigliato</a:t>
            </a:r>
            <a:br/>
            <a:r>
              <a:t>• Slide 1-5: Introduzione (5 min)</a:t>
            </a:r>
            <a:br/>
            <a:r>
              <a:t>• Slide 6-12: Architettura e Moduli (15 min)</a:t>
            </a:r>
            <a:br/>
            <a:r>
              <a:t>• Slide 13-18: Deployment e API (10 min)</a:t>
            </a:r>
            <a:br/>
            <a:r>
              <a:t>• Slide 19-24: Avanzato e Performance (10 min)</a:t>
            </a:r>
            <a:br/>
            <a:r>
              <a:t>• Slide 25-30: Demo e Q&amp;A (10 min)</a:t>
            </a:r>
          </a:p>
          <a:p>
            <a:pPr>
              <a:spcAft>
                <a:spcPts val="600"/>
              </a:spcAft>
              <a:defRPr sz="1400"/>
            </a:pPr>
            <a:r>
              <a:t>Totale: ~50 minuti</a:t>
            </a:r>
          </a:p>
          <a:p>
            <a:pPr>
              <a:spcAft>
                <a:spcPts val="600"/>
              </a:spcAft>
              <a:defRPr sz="1400"/>
            </a:pPr>
            <a:r>
              <a:t>Slide da Evidenziare</a:t>
            </a:r>
            <a:br/>
            <a:r>
              <a:t>• Slide 4: Architettura (mostra diagramma)</a:t>
            </a:r>
            <a:br/>
            <a:r>
              <a:t>• Slide 10: Flusso end-to-end (chiave del sistema)</a:t>
            </a:r>
            <a:br/>
            <a:r>
              <a:t>• Slide 14: Deployment (infrastruttura)</a:t>
            </a:r>
            <a:br/>
            <a:r>
              <a:t>• Slide 26: Demo (mostra funzionamento)</a:t>
            </a:r>
          </a:p>
          <a:p>
            <a:pPr>
              <a:spcAft>
                <a:spcPts val="600"/>
              </a:spcAft>
              <a:defRPr sz="1400"/>
            </a:pPr>
            <a:r>
              <a:t>Preparazione Demo</a:t>
            </a:r>
            <a:br/>
            <a:r>
              <a:t>Sistema avviato e funzionante</a:t>
            </a:r>
            <a:br/>
            <a:r>
              <a:t>Browser aperto su localhost:8443</a:t>
            </a:r>
            <a:br/>
            <a:r>
              <a:t>Microfono testato</a:t>
            </a:r>
            <a:br/>
            <a:r>
              <a:t>Esempi di conversazione pronti</a:t>
            </a:r>
            <a:br/>
            <a:r>
              <a:t>API testate (curl o Postman)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173</TotalTime>
  <Words>2542</Words>
  <Application>Microsoft Macintosh PowerPoint</Application>
  <PresentationFormat>Presentazione su schermo (4:3)</PresentationFormat>
  <Paragraphs>155</Paragraphs>
  <Slides>32</Slides>
  <Notes>0</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32</vt:i4>
      </vt:variant>
    </vt:vector>
  </HeadingPairs>
  <TitlesOfParts>
    <vt:vector size="35" baseType="lpstr">
      <vt:lpstr>Arial</vt:lpstr>
      <vt:lpstr>Calibri</vt:lpstr>
      <vt:lpstr>Office Theme</vt:lpstr>
      <vt:lpstr>Sistema di Assistente Vocale Self-Hosted</vt:lpstr>
      <vt:lpstr>Sistema di Assistente Vocale Self-Hosted con WebRTC</vt:lpstr>
      <vt:lpstr>Slide 2: Agenda</vt:lpstr>
      <vt:lpstr>Slide 3: Cos'è SophyAI Live Server?</vt:lpstr>
      <vt:lpstr>Slide 4: Architettura ad Alto Livello</vt:lpstr>
      <vt:lpstr>Slide 5: Componenti Principali</vt:lpstr>
      <vt:lpstr>Slide 6: Stack Tecnologico</vt:lpstr>
      <vt:lpstr>Slide 7: Speech-to-Text (STT)</vt:lpstr>
      <vt:lpstr>Slide 8: Large Language Model (LLM)</vt:lpstr>
      <vt:lpstr>Slide 9: Text-to-Speech (TTS)</vt:lpstr>
      <vt:lpstr>Slide 10: Flusso Completo End-to-End</vt:lpstr>
      <vt:lpstr>Slide 11: Multi-User Support</vt:lpstr>
      <vt:lpstr>Slide 12: Video Analysis (Opzionale)</vt:lpstr>
      <vt:lpstr>Slide 13: Database Schema</vt:lpstr>
      <vt:lpstr>Slide 14: Deployment - Docker Compose</vt:lpstr>
      <vt:lpstr>Slide 15: API REST - Endpoints Principali</vt:lpstr>
      <vt:lpstr>.env</vt:lpstr>
      <vt:lpstr>Slide 17: Performance e Ottimizzazioni</vt:lpstr>
      <vt:lpstr>Slide 18: Caratteristiche Avanzate</vt:lpstr>
      <vt:lpstr>Slide 19: Requisiti di Sistema</vt:lpstr>
      <vt:lpstr>Verifica</vt:lpstr>
      <vt:lpstr>Slide 21: Sicurezza e Best Practices</vt:lpstr>
      <vt:lpstr>agent/main.py</vt:lpstr>
      <vt:lpstr>Slide 23: Roadmap e Sviluppi Futuri</vt:lpstr>
      <vt:lpstr>Slide 24: Metriche e Performance</vt:lpstr>
      <vt:lpstr>Riavvia</vt:lpstr>
      <vt:lpstr>Slide 26: Demo - Flusso Completo</vt:lpstr>
      <vt:lpstr>Function tool per chiamate API</vt:lpstr>
      <vt:lpstr>Slide 28: Conclusioni</vt:lpstr>
      <vt:lpstr>Slide 29: Q&amp;A</vt:lpstr>
      <vt:lpstr>Grazie per l'Attenzione!</vt:lpstr>
      <vt:lpstr>Note per il Presentatore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Roberto Navoni</cp:lastModifiedBy>
  <cp:revision>2</cp:revision>
  <dcterms:created xsi:type="dcterms:W3CDTF">2013-01-27T09:14:16Z</dcterms:created>
  <dcterms:modified xsi:type="dcterms:W3CDTF">2026-01-20T11:24:27Z</dcterms:modified>
  <cp:category/>
</cp:coreProperties>
</file>